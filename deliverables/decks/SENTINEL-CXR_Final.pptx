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2743200" cy="25400"/>
          </a:xfrm>
          <a:prstGeom prst="rect">
            <a:avLst/>
          </a:prstGeom>
          <a:solidFill>
            <a:srgbClr val="2E9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E9CB8"/>
                </a:solidFill>
                <a:latin typeface="Consolas"/>
              </a:rPr>
              <a:t>MAIB AI 114 ·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 i="0">
                <a:solidFill>
                  <a:srgbClr val="E8ECEF"/>
                </a:solidFill>
                <a:latin typeface="Calibri"/>
              </a:rPr>
              <a:t>SENTINEL-CXR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E8ECEF"/>
                </a:solidFill>
                <a:latin typeface="Calibri"/>
              </a:rPr>
              <a:t>Uncertainty-Aware Chest Radiograph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8A9299"/>
                </a:solidFill>
                <a:latin typeface="Calibri"/>
              </a:rPr>
              <a:t>A diagnostic system that knows when it does not know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709160"/>
            <a:ext cx="10881360" cy="15875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Krishna Mathur AS25DXB018 · Atharva Soundankar AS25DXB020 · Yash Petkar AS25DXB021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299"/>
                </a:solidFill>
                <a:latin typeface="Calibri"/>
              </a:rPr>
              <a:t>Prof Anshul Gupta · S P Jain School of Global Management, Dubai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E9CB8"/>
                </a:solidFill>
                <a:latin typeface="Consolas"/>
              </a:rPr>
              <a:t>FINAL GROUP PROJECT · EXAM WEEK · 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E9CB8"/>
                </a:solidFill>
                <a:latin typeface="Consolas"/>
              </a:rPr>
              <a:t>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4114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A9299"/>
                </a:solidFill>
                <a:latin typeface="Consolas"/>
              </a:rPr>
              <a:t>02/15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400" b="1" i="0">
                <a:solidFill>
                  <a:srgbClr val="E8ECEF"/>
                </a:solidFill>
                <a:latin typeface="Calibri"/>
              </a:rPr>
              <a:t>It tells you when it doesn't know.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73152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8A9299"/>
                </a:solidFill>
                <a:latin typeface="Calibri"/>
              </a:rPr>
              <a:t>Most medical deep learning fails to deploy not because it is insufficiently accurate, but because it is confident about everything — including inputs it has never seen.</a:t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8A9299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8A9299"/>
                </a:solidFill>
                <a:latin typeface="Calibri"/>
              </a:rPr>
              <a:t>SENTINEL-CXR produces a prediction set with a statistical coverage guarantee, and abstains when that guarantee cannot be met.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560320"/>
            <a:ext cx="3383280" cy="566928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02752" y="2752344"/>
            <a:ext cx="182880" cy="182880"/>
          </a:xfrm>
          <a:prstGeom prst="rect">
            <a:avLst/>
          </a:prstGeom>
          <a:solidFill>
            <a:srgbClr val="2E9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2697479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8ECEF"/>
                </a:solidFill>
                <a:latin typeface="Calibri"/>
              </a:rPr>
              <a:t>Effusion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2697479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onsolas"/>
              </a:rPr>
              <a:t>0.87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246120"/>
            <a:ext cx="3383280" cy="566928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02752" y="3438144"/>
            <a:ext cx="182880" cy="182880"/>
          </a:xfrm>
          <a:prstGeom prst="rect">
            <a:avLst/>
          </a:prstGeom>
          <a:solidFill>
            <a:srgbClr val="69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3383279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8ECEF"/>
                </a:solidFill>
                <a:latin typeface="Calibri"/>
              </a:rPr>
              <a:t>Nodule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3383279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onsolas"/>
              </a:rPr>
              <a:t>0.61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931920"/>
            <a:ext cx="3383280" cy="566928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02752" y="4123944"/>
            <a:ext cx="182880" cy="18288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40690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Abstained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80" y="4069080"/>
            <a:ext cx="868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onsolas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61772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8A9299"/>
                </a:solidFill>
                <a:latin typeface="Calibri"/>
              </a:rPr>
              <a:t>Confidence is chroma.</a:t>
            </a:r>
          </a:p>
          <a:p>
            <a:pPr algn="l">
              <a:lnSpc>
                <a:spcPct val="110000"/>
              </a:lnSpc>
            </a:pPr>
            <a:r>
              <a:rPr sz="1100" b="0" i="1">
                <a:solidFill>
                  <a:srgbClr val="8A9299"/>
                </a:solidFill>
                <a:latin typeface="Calibri"/>
              </a:rPr>
              <a:t>Colour drains as the model doubts.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E9CB8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4114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A9299"/>
                </a:solidFill>
                <a:latin typeface="Consolas"/>
              </a:rPr>
              <a:t>03/15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1" i="0">
                <a:solidFill>
                  <a:srgbClr val="E8ECEF"/>
                </a:solidFill>
                <a:latin typeface="Calibri"/>
              </a:rPr>
              <a:t>A confident wrong answer is worse than none.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493008" cy="219456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29809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9CB8"/>
                </a:solidFill>
                <a:latin typeface="Calibri"/>
              </a:rPr>
              <a:t>Scores aren't probabilities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07792"/>
            <a:ext cx="298094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8A9299"/>
                </a:solidFill>
                <a:latin typeface="Calibri"/>
              </a:rPr>
              <a:t>Thresholding a cross-entropy output at 0.5 gives no guarantee about how often the answer is right.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2286000"/>
            <a:ext cx="3493008" cy="219456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487168"/>
            <a:ext cx="29809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9CB8"/>
                </a:solidFill>
                <a:latin typeface="Calibri"/>
              </a:rPr>
              <a:t>Automation bias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907792"/>
            <a:ext cx="298094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8A9299"/>
                </a:solidFill>
                <a:latin typeface="Calibri"/>
              </a:rPr>
              <a:t>Clinicians are measurably less likely to override a confident machine judgement — so confidence must be earned.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2286000"/>
            <a:ext cx="3493008" cy="219456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3" y="2487168"/>
            <a:ext cx="29809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9CB8"/>
                </a:solidFill>
                <a:latin typeface="Calibri"/>
              </a:rPr>
              <a:t>Hidden stratification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3" y="2907792"/>
            <a:ext cx="298094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8A9299"/>
                </a:solidFill>
                <a:latin typeface="Calibri"/>
              </a:rPr>
              <a:t>Aggregate AUROC stays high while the model fails badly on clinically important subgroups (Oakden-Rayner, 2020).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E9CB8"/>
                </a:solidFill>
                <a:latin typeface="Consolas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4114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A9299"/>
                </a:solidFill>
                <a:latin typeface="Consolas"/>
              </a:rPr>
              <a:t>04/15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1" i="0">
                <a:solidFill>
                  <a:srgbClr val="E8ECEF"/>
                </a:solidFill>
                <a:latin typeface="Calibri"/>
              </a:rPr>
              <a:t>Three layers of refusal.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493008" cy="237744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487168"/>
            <a:ext cx="29809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9CB8"/>
                </a:solidFill>
                <a:latin typeface="Calibri"/>
              </a:rPr>
              <a:t>01  VAE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07792"/>
            <a:ext cx="298094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8A9299"/>
                </a:solidFill>
                <a:latin typeface="Calibri"/>
              </a:rPr>
              <a:t>Trained only on radiographs. Reconstruction error rejects non-radiographs before classification. Threshold set at 1% FPR — an explicit design decision, not a round number.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2286000"/>
            <a:ext cx="3493008" cy="237744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487168"/>
            <a:ext cx="29809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9CB8"/>
                </a:solidFill>
                <a:latin typeface="Calibri"/>
              </a:rPr>
              <a:t>02 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907792"/>
            <a:ext cx="298094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8A9299"/>
                </a:solidFill>
                <a:latin typeface="Calibri"/>
              </a:rPr>
              <a:t>Predictive entropy splits exactly into aleatoric (irreducible ambiguity) and epistemic (the model's ignorance). Only epistemic justifies abstention.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1" y="2286000"/>
            <a:ext cx="3493008" cy="237744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3" y="2487168"/>
            <a:ext cx="29809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9CB8"/>
                </a:solidFill>
                <a:latin typeface="Calibri"/>
              </a:rPr>
              <a:t>03  Conformal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3" y="2907792"/>
            <a:ext cx="298094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8A9299"/>
                </a:solidFill>
                <a:latin typeface="Calibri"/>
              </a:rPr>
              <a:t>Nonconformity quantile at ceil((n+1)(1-α))/n. The finite-sample correction is what makes coverage exact rather than asymptotic.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E9CB8"/>
                </a:solidFill>
                <a:latin typeface="Consolas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4114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A9299"/>
                </a:solidFill>
                <a:latin typeface="Consolas"/>
              </a:rPr>
              <a:t>05/15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1" i="0">
                <a:solidFill>
                  <a:srgbClr val="E8ECEF"/>
                </a:solidFill>
                <a:latin typeface="Calibri"/>
              </a:rPr>
              <a:t>Patient ID and Follow-up # change everything.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onsolas"/>
              </a:rPr>
              <a:t>NIH ChestX-ray14 · 112,120 radiographs · 30,805 patients · ~3–4 studies each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5303520" cy="246888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E9CB8"/>
                </a:solidFill>
                <a:latin typeface="Consolas"/>
              </a:rPr>
              <a:t>WHAT THEY UNLOCK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7548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ECEF"/>
                </a:solidFill>
                <a:latin typeface="Calibri"/>
              </a:rPr>
              <a:t>Multiple studies per patient form real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ECEF"/>
                </a:solidFill>
                <a:latin typeface="Calibri"/>
              </a:rPr>
              <a:t>clinical timelines. The recurrent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ECEF"/>
                </a:solidFill>
                <a:latin typeface="Calibri"/>
              </a:rPr>
              <a:t>branch models disease progression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ECEF"/>
                </a:solidFill>
                <a:latin typeface="Calibri"/>
              </a:rPr>
              <a:t>rather than serving as an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ECEF"/>
                </a:solidFill>
                <a:latin typeface="Calibri"/>
              </a:rPr>
              <a:t>unmotivated exercise.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97480"/>
            <a:ext cx="5303520" cy="246888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92608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64541"/>
                </a:solidFill>
                <a:latin typeface="Consolas"/>
              </a:rPr>
              <a:t>AND WHAT THEY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83280"/>
            <a:ext cx="47548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ECEF"/>
                </a:solidFill>
                <a:latin typeface="Calibri"/>
              </a:rPr>
              <a:t>Split by PATIENT, never by image.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ECEF"/>
                </a:solidFill>
                <a:latin typeface="Calibri"/>
              </a:rPr>
              <a:t>Splitting by image leaks follow-up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ECEF"/>
                </a:solidFill>
                <a:latin typeface="Calibri"/>
              </a:rPr>
              <a:t>scans across the boundary and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ECEF"/>
                </a:solidFill>
                <a:latin typeface="Calibri"/>
              </a:rPr>
              <a:t>inflates every metric. This is the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ECEF"/>
                </a:solidFill>
                <a:latin typeface="Calibri"/>
              </a:rPr>
              <a:t>most common error on this dataset.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E9CB8"/>
                </a:solidFill>
                <a:latin typeface="Consola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4114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A9299"/>
                </a:solidFill>
                <a:latin typeface="Consolas"/>
              </a:rPr>
              <a:t>06/15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1" i="0">
                <a:solidFill>
                  <a:srgbClr val="E8ECEF"/>
                </a:solidFill>
                <a:latin typeface="Calibri"/>
              </a:rPr>
              <a:t>512 MB shaped the whole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6675120" cy="329184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62179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Vercel      Next.js 15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   |        HTTPS + JWT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Render      FastAPI · 512 MB · NO PyTorch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   |        conformal head · audit log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   +- cold -&gt; ONNX int8 · &lt;900 ms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   |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HF Spaces   16 GB · DenseNet · VAE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   |        Grad-CAM · LSTM · ViT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Supabase    Postgres + storage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103120"/>
            <a:ext cx="3931920" cy="329184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33172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E9CB8"/>
                </a:solidFill>
                <a:latin typeface="Consolas"/>
              </a:rPr>
              <a:t>GRACEFUL DEGRADATION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788920"/>
            <a:ext cx="33832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A free HF Space sleeps after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48h and wakes in ~40s.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When it is cold, the ONNX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fast path answers immediately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and the response is marked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REDUCED — visibly, in the UI.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A clinician must know which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mode produced their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E9CB8"/>
                </a:solidFill>
                <a:latin typeface="Consolas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4114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A9299"/>
                </a:solidFill>
                <a:latin typeface="Consolas"/>
              </a:rPr>
              <a:t>07/15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1" i="0">
                <a:solidFill>
                  <a:srgbClr val="E8ECEF"/>
                </a:solidFill>
                <a:latin typeface="Calibri"/>
              </a:rPr>
              <a:t>Eleven steps, one decision each.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10881360" cy="320040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1   upload            -&gt; presigned URL, storage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2   VAE OOD gate      -&gt; not a radiograph?  REJECT, stop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3   classifier        -&gt; DenseNet-121, 14 sigmoid scores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4   uncertainty       -&gt; MC-dropout / TTA, epistemic vs aleatoric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5   conformal head    -&gt; prediction set at 90% coverage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6   abstention        -&gt; empty or oversized?  ROUTE TO HUMAN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7   Grad-CAM          -&gt; per-finding activation map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8   progression       -&gt; LSTM over prior visits, if any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9   triage            -&gt; DQN priority, worklist position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10  report            -&gt; LLM grounded strictly in steps 3–9</a:t>
            </a:r>
          </a:p>
          <a:p>
            <a:pPr algn="l">
              <a:lnSpc>
                <a:spcPct val="116000"/>
              </a:lnSpc>
            </a:pPr>
            <a:r>
              <a:rPr sz="1300" b="0" i="0">
                <a:solidFill>
                  <a:srgbClr val="E8ECEF"/>
                </a:solidFill>
                <a:latin typeface="Consolas"/>
              </a:rPr>
              <a:t>11  persist           -&gt; audit entry, stream to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E9CB8"/>
                </a:solidFill>
                <a:latin typeface="Consolas"/>
              </a:rPr>
              <a:t>GENERATIVE AI · OUTCOME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4114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A9299"/>
                </a:solidFill>
                <a:latin typeface="Consolas"/>
              </a:rPr>
              <a:t>08/15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1" i="0">
                <a:solidFill>
                  <a:srgbClr val="E8ECEF"/>
                </a:solidFill>
                <a:latin typeface="Calibri"/>
              </a:rPr>
              <a:t>The model never sees the image.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alibri"/>
              </a:rPr>
              <a:t>A language model asked to describe a radiograph will invent findings — fluently, in clinical register.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3493008" cy="173736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852928"/>
            <a:ext cx="29809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9CB8"/>
                </a:solidFill>
                <a:latin typeface="Calibri"/>
              </a:rPr>
              <a:t>Closed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273552"/>
            <a:ext cx="2980944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8A9299"/>
                </a:solidFill>
                <a:latin typeface="Calibri"/>
              </a:rPr>
              <a:t>It receives structured model output only. No pixels, so it cannot invent a finding from the image.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651760"/>
            <a:ext cx="3493008" cy="173736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2852928"/>
            <a:ext cx="29809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9CB8"/>
                </a:solidFill>
                <a:latin typeface="Calibri"/>
              </a:rPr>
              <a:t>Closed vocabulary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3273552"/>
            <a:ext cx="2980944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8A9299"/>
                </a:solidFill>
                <a:latin typeface="Calibri"/>
              </a:rPr>
              <a:t>The prompt enumerates exactly which pathologies may be named.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2651760"/>
            <a:ext cx="3493008" cy="173736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3" y="2852928"/>
            <a:ext cx="29809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9CB8"/>
                </a:solidFill>
                <a:latin typeface="Calibri"/>
              </a:rPr>
              <a:t>Verified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3" y="3273552"/>
            <a:ext cx="2980944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8A9299"/>
                </a:solidFill>
                <a:latin typeface="Calibri"/>
              </a:rPr>
              <a:t>Generated text is scanned for unsupported findings. One hit and the generation is discarded and logged.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17720"/>
            <a:ext cx="10881360" cy="109728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0060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E8ECEF"/>
                </a:solidFill>
                <a:latin typeface="Calibri"/>
              </a:rPr>
              <a:t>Layer 3 is what makes 1 and 2 trustworthy. Prompt instructions are a request; verification is a guarantee. Even 'no pneumothorax is seen' is rejected — it implies the system looked, and if it didn't, that's false.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E9CB8"/>
                </a:solidFill>
                <a:latin typeface="Consola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4114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A9299"/>
                </a:solidFill>
                <a:latin typeface="Consolas"/>
              </a:rPr>
              <a:t>09/15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1" i="0">
                <a:solidFill>
                  <a:srgbClr val="E8ECEF"/>
                </a:solidFill>
                <a:latin typeface="Calibri"/>
              </a:rPr>
              <a:t>The claim, and the number that tests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alibri"/>
              </a:rPr>
              <a:t>Coverage is the project's central claim — so it is asserted in CI.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5303520" cy="228600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E9CB8"/>
                </a:solidFill>
                <a:latin typeface="Consolas"/>
              </a:rPr>
              <a:t>MEASURED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D9903F"/>
                </a:solidFill>
                <a:latin typeface="Consolas"/>
              </a:rPr>
              <a:t>0.8845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against a 0.90 target — BELOW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4,999 radiographs, 1,335 patients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patient-disjoint split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651760"/>
            <a:ext cx="5303520" cy="228600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8803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E9CB8"/>
                </a:solidFill>
                <a:latin typeface="Consolas"/>
              </a:rPr>
              <a:t>WHY IT FALLS SHORT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91840"/>
            <a:ext cx="47548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E8ECEF"/>
                </a:solidFill>
                <a:latin typeface="Calibri"/>
              </a:rPr>
              <a:t>Coverage assumes exchangeability.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E8ECEF"/>
                </a:solidFill>
                <a:latin typeface="Calibri"/>
              </a:rPr>
              <a:t>Splitting by PATIENT is required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E8ECEF"/>
                </a:solidFill>
                <a:latin typeface="Calibri"/>
              </a:rPr>
              <a:t>to avoid follow-up leakage — and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E8ECEF"/>
                </a:solidFill>
                <a:latin typeface="Calibri"/>
              </a:rPr>
              <a:t>breaks exchangeability.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E8ECEF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E8ECEF"/>
                </a:solidFill>
                <a:latin typeface="Calibri"/>
              </a:rPr>
              <a:t>Pneumonia has 31 calibration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E8ECEF"/>
                </a:solidFill>
                <a:latin typeface="Calibri"/>
              </a:rPr>
              <a:t>positives; its quantile is noisy.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E9CB8"/>
                </a:solidFill>
                <a:latin typeface="Consola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4114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A9299"/>
                </a:solidFill>
                <a:latin typeface="Consolas"/>
              </a:rPr>
              <a:t>10/15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1" i="0">
                <a:solidFill>
                  <a:srgbClr val="E8ECEF"/>
                </a:solidFill>
                <a:latin typeface="Calibri"/>
              </a:rPr>
              <a:t>Triage: the RL environment had to be rebuilt.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4572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CB8"/>
                </a:solidFill>
                <a:latin typeface="Consolas"/>
              </a:rPr>
              <a:t>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2286000"/>
            <a:ext cx="31089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CB8"/>
                </a:solidFill>
                <a:latin typeface="Consolas"/>
              </a:rPr>
              <a:t>Mean return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286000"/>
            <a:ext cx="3200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CB8"/>
                </a:solidFill>
                <a:latin typeface="Consolas"/>
              </a:rPr>
              <a:t>Std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10881360" cy="12700"/>
          </a:xfrm>
          <a:prstGeom prst="rect">
            <a:avLst/>
          </a:prstGeom>
          <a:solidFill>
            <a:srgbClr val="2E9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16352"/>
            <a:ext cx="4572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alibri"/>
              </a:rPr>
              <a:t>Random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816352"/>
            <a:ext cx="31089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onsolas"/>
              </a:rPr>
              <a:t>-837.74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816352"/>
            <a:ext cx="3200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onsolas"/>
              </a:rPr>
              <a:t>41.45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55264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4572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alibri"/>
              </a:rPr>
              <a:t>First-in-first-out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291840"/>
            <a:ext cx="31089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onsolas"/>
              </a:rPr>
              <a:t>-841.66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91840"/>
            <a:ext cx="3200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onsolas"/>
              </a:rPr>
              <a:t>31.48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30752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67328"/>
            <a:ext cx="4572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CEF"/>
                </a:solidFill>
                <a:latin typeface="Calibri"/>
              </a:rPr>
              <a:t>Urgency heuristic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767328"/>
            <a:ext cx="31089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CEF"/>
                </a:solidFill>
                <a:latin typeface="Consolas"/>
              </a:rPr>
              <a:t>-397.73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767328"/>
            <a:ext cx="3200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CEF"/>
                </a:solidFill>
                <a:latin typeface="Consolas"/>
              </a:rPr>
              <a:t>29.82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206240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42816"/>
            <a:ext cx="4572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alibri"/>
              </a:rPr>
              <a:t>Oracle-greedy (bound)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242816"/>
            <a:ext cx="31089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onsolas"/>
              </a:rPr>
              <a:t>-367.22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242816"/>
            <a:ext cx="3200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onsolas"/>
              </a:rPr>
              <a:t>26.08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526280"/>
            <a:ext cx="10881360" cy="128016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70916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E8ECEF"/>
                </a:solidFill>
                <a:latin typeface="Calibri"/>
              </a:rPr>
              <a:t>Our first environment paid a bonus for reading a study. It swamped the waiting cost, and random, FIFO and heuristic all scored within noise — the benchmark could not tell a good policy from a coin flip. Reformulating the reward as pure cost separated them and made the result meaningful.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E9CB8"/>
                </a:solidFill>
                <a:latin typeface="Consola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4114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A9299"/>
                </a:solidFill>
                <a:latin typeface="Consolas"/>
              </a:rPr>
              <a:t>11/15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1" i="0">
                <a:solidFill>
                  <a:srgbClr val="E8ECEF"/>
                </a:solidFill>
                <a:latin typeface="Calibri"/>
              </a:rPr>
              <a:t>Gated cells hold gradient. Which one wins is not settled.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9260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CB8"/>
                </a:solidFill>
                <a:latin typeface="Consolas"/>
              </a:rPr>
              <a:t>Cell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286000"/>
            <a:ext cx="2743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CB8"/>
                </a:solidFill>
                <a:latin typeface="Consolas"/>
              </a:rPr>
              <a:t>grad @ t=0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86000"/>
            <a:ext cx="2743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CB8"/>
                </a:solidFill>
                <a:latin typeface="Consolas"/>
              </a:rPr>
              <a:t>grad @ t=59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286000"/>
            <a:ext cx="2468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CB8"/>
                </a:solidFill>
                <a:latin typeface="Consolas"/>
              </a:rPr>
              <a:t>Parameters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43200"/>
            <a:ext cx="10881360" cy="12700"/>
          </a:xfrm>
          <a:prstGeom prst="rect">
            <a:avLst/>
          </a:prstGeom>
          <a:solidFill>
            <a:srgbClr val="2E9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16352"/>
            <a:ext cx="29260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alibri"/>
              </a:rPr>
              <a:t>Vanilla RNN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16352"/>
            <a:ext cx="2743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onsolas"/>
              </a:rPr>
              <a:t>1.46e-17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816352"/>
            <a:ext cx="2743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onsolas"/>
              </a:rPr>
              <a:t>1.09e-01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816352"/>
            <a:ext cx="2468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onsolas"/>
              </a:rPr>
              <a:t>463,374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55264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91840"/>
            <a:ext cx="29260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alibri"/>
              </a:rPr>
              <a:t>GRU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291840"/>
            <a:ext cx="2743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onsolas"/>
              </a:rPr>
              <a:t>8.69e-14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291840"/>
            <a:ext cx="2743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onsolas"/>
              </a:rPr>
              <a:t>5.61e-02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291840"/>
            <a:ext cx="2468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onsolas"/>
              </a:rPr>
              <a:t>1,382,926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730752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67328"/>
            <a:ext cx="29260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alibri"/>
              </a:rPr>
              <a:t>LSTM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767328"/>
            <a:ext cx="2743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onsolas"/>
              </a:rPr>
              <a:t>2.92e-14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67328"/>
            <a:ext cx="27432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onsolas"/>
              </a:rPr>
              <a:t>3.02e-02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767328"/>
            <a:ext cx="2468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onsolas"/>
              </a:rPr>
              <a:t>1,842,702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97680"/>
            <a:ext cx="10881360" cy="146304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498848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A9299"/>
                </a:solidFill>
                <a:latin typeface="Calibri"/>
              </a:rPr>
              <a:t>Gated cells retain ~4 orders of magnitude more gradient at t=0 over a 60-step sequence, averaged across 12 seeds. GRU and LSTM are close and their ordering is NOT stable across initialisations — so we make no claim that either dominates on this probe. Parameter count is reported because it is a confound in any such comparison.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E9CB8"/>
                </a:solidFill>
                <a:latin typeface="Consolas"/>
              </a:rPr>
              <a:t>ETHICS · OUTCOME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4114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A9299"/>
                </a:solidFill>
                <a:latin typeface="Consolas"/>
              </a:rPr>
              <a:t>12/15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1" i="0">
                <a:solidFill>
                  <a:srgbClr val="E8ECEF"/>
                </a:solidFill>
                <a:latin typeface="Calibri"/>
              </a:rPr>
              <a:t>The audit fails. We predicted why before we measured.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CB8"/>
                </a:solidFill>
                <a:latin typeface="Consolas"/>
              </a:rPr>
              <a:t>Stratum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2402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CB8"/>
                </a:solidFill>
                <a:latin typeface="Consolas"/>
              </a:rPr>
              <a:t>TPR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2402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CB8"/>
                </a:solidFill>
                <a:latin typeface="Consolas"/>
              </a:rPr>
              <a:t>FPR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22402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9CB8"/>
                </a:solidFill>
                <a:latin typeface="Consolas"/>
              </a:rPr>
              <a:t>Within 0.10?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79192"/>
            <a:ext cx="10881360" cy="12700"/>
          </a:xfrm>
          <a:prstGeom prst="rect">
            <a:avLst/>
          </a:prstGeom>
          <a:solidFill>
            <a:srgbClr val="2E9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52344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alibri"/>
              </a:rPr>
              <a:t>Patient sex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752344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onsolas"/>
              </a:rPr>
              <a:t>0.0165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752344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onsolas"/>
              </a:rPr>
              <a:t>0.0267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752344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onsolas"/>
              </a:rPr>
              <a:t>yes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172968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09544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alibri"/>
              </a:rPr>
              <a:t>Age band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209544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onsolas"/>
              </a:rPr>
              <a:t>0.1295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209544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onsolas"/>
              </a:rPr>
              <a:t>0.2040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209544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onsolas"/>
              </a:rPr>
              <a:t>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630168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66744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CEF"/>
                </a:solidFill>
                <a:latin typeface="Calibri"/>
              </a:rPr>
              <a:t>View position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666744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CEF"/>
                </a:solidFill>
                <a:latin typeface="Consolas"/>
              </a:rPr>
              <a:t>0.0228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666744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CEF"/>
                </a:solidFill>
                <a:latin typeface="Consolas"/>
              </a:rPr>
              <a:t>0.2149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666744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8ECEF"/>
                </a:solidFill>
                <a:latin typeface="Consolas"/>
              </a:rPr>
              <a:t>NO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114800"/>
            <a:ext cx="10881360" cy="160020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315968"/>
            <a:ext cx="103327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0" i="0">
                <a:solidFill>
                  <a:srgbClr val="E8ECEF"/>
                </a:solidFill>
                <a:latin typeface="Calibri"/>
              </a:rPr>
              <a:t>Portable AP films are taken of patients too unwell to stand, so view position correlates with severity. The FPR gap is 0.2149 while the TPR gap is only 0.0228 — the model is not MISSING more disease on AP films, it is OVER-CALLING it. That asymmetry is the signature of a shortcut, and aggregate AUROC would never have shown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64541"/>
                </a:solidFill>
                <a:latin typeface="Calibri"/>
              </a:rPr>
              <a:t>ChestX-ray14 has no race labels — that axis cannot be audited at all, and that absence is a finding, not an absence of bias.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E9CB8"/>
                </a:solidFill>
                <a:latin typeface="Consolas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4114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A9299"/>
                </a:solidFill>
                <a:latin typeface="Consolas"/>
              </a:rPr>
              <a:t>13/15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1" i="0">
                <a:solidFill>
                  <a:srgbClr val="E8ECEF"/>
                </a:solidFill>
                <a:latin typeface="Calibri"/>
              </a:rPr>
              <a:t>What this system is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9CB8"/>
                </a:solidFill>
                <a:latin typeface="Consolas"/>
              </a:rPr>
              <a:t>Limitation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240280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9CB8"/>
                </a:solidFill>
                <a:latin typeface="Consolas"/>
              </a:rPr>
              <a:t>Consequence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24912"/>
            <a:ext cx="10881360" cy="12700"/>
          </a:xfrm>
          <a:prstGeom prst="rect">
            <a:avLst/>
          </a:prstGeom>
          <a:solidFill>
            <a:srgbClr val="2E9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98064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alibri"/>
              </a:rPr>
              <a:t>Labels NLP-mined, ~10%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798064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Every metric inherits that ceiling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64408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00984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alibri"/>
              </a:rPr>
              <a:t>Single US institution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300984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Generalisation unvalidated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67328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03904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alibri"/>
              </a:rPr>
              <a:t>Marginal, not simultaneous,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803904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Per-label guarantee 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70248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06824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alibri"/>
              </a:rPr>
              <a:t>Exchangeability assumed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306824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Distribution shift voids the guarantee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773168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809744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alibri"/>
              </a:rPr>
              <a:t>Grad-CAM is correlational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809744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Not evidence of correct reasoning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76088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312664"/>
            <a:ext cx="5669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alibri"/>
              </a:rPr>
              <a:t>Triage results are simulated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312664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No claim about a real reading room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486400"/>
            <a:ext cx="10881360" cy="68580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32704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64541"/>
                </a:solidFill>
                <a:latin typeface="Calibri"/>
              </a:rPr>
              <a:t>Not a medical device. No regulatory clearance. Must not inform patient care.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E9CB8"/>
                </a:solidFill>
                <a:latin typeface="Consolas"/>
              </a:rPr>
              <a:t>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4114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A9299"/>
                </a:solidFill>
                <a:latin typeface="Consolas"/>
              </a:rPr>
              <a:t>14/15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1" i="0">
                <a:solidFill>
                  <a:srgbClr val="E8ECEF"/>
                </a:solidFill>
                <a:latin typeface="Calibri"/>
              </a:rPr>
              <a:t>The bugs taught us more than the metrics.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3949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9CB8"/>
                </a:solidFill>
                <a:latin typeface="Consolas"/>
              </a:rPr>
              <a:t>What broke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194560"/>
            <a:ext cx="54864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9CB8"/>
                </a:solidFill>
                <a:latin typeface="Consolas"/>
              </a:rPr>
              <a:t>How it was caught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79776"/>
            <a:ext cx="10881360" cy="12700"/>
          </a:xfrm>
          <a:prstGeom prst="rect">
            <a:avLst/>
          </a:prstGeom>
          <a:solidFill>
            <a:srgbClr val="2E9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52928"/>
            <a:ext cx="53949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alibri"/>
              </a:rPr>
              <a:t>Triage env couldn't separate policies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852928"/>
            <a:ext cx="54864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Running the baselines instead of assuming they'd differ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19856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56432"/>
            <a:ext cx="53949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alibri"/>
              </a:rPr>
              <a:t>Pretrained model had zero dropout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456432"/>
            <a:ext cx="54864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Asserting MC-dropout actually enables layers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23360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9936"/>
            <a:ext cx="53949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alibri"/>
              </a:rPr>
              <a:t>int8 model unexecutable in production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4059936"/>
            <a:ext cx="54864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Creating a session, not just checking numerical agreement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626864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53949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alibri"/>
              </a:rPr>
              <a:t>ReLU zeroed 11 of 14 activation maps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663440"/>
            <a:ext cx="54864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Noticing CAM is an evidence field, not a gradient product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230368"/>
            <a:ext cx="10881360" cy="6350"/>
          </a:xfrm>
          <a:prstGeom prst="rect">
            <a:avLst/>
          </a:prstGeom>
          <a:solidFill>
            <a:srgbClr val="2A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66944"/>
            <a:ext cx="53949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alibri"/>
              </a:rPr>
              <a:t>Rate limiter bucketed the whole world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5266944"/>
            <a:ext cx="548640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299"/>
                </a:solidFill>
                <a:latin typeface="Consolas"/>
              </a:rPr>
              <a:t>Asserting two clients behind one proxy get separate budgets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20640"/>
            <a:ext cx="10881360" cy="914400"/>
          </a:xfrm>
          <a:prstGeom prst="roundRect">
            <a:avLst>
              <a:gd name="adj" fmla="val 3000"/>
            </a:avLst>
          </a:prstGeom>
          <a:solidFill>
            <a:srgbClr val="16191B"/>
          </a:solidFill>
          <a:ln w="9525">
            <a:solidFill>
              <a:srgbClr val="2A2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0352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8ECEF"/>
                </a:solidFill>
                <a:latin typeface="Calibri"/>
              </a:rPr>
              <a:t>Every one was found by testing a claim the system makes about itself. None would have been caught by checking whether the app looked right.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E9CB8"/>
                </a:solidFill>
                <a:latin typeface="Consola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4114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8A9299"/>
                </a:solidFill>
                <a:latin typeface="Consolas"/>
              </a:rPr>
              <a:t>15/15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881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1" i="0">
                <a:solidFill>
                  <a:srgbClr val="E8ECEF"/>
                </a:solidFill>
                <a:latin typeface="Calibri"/>
              </a:rPr>
              <a:t>Trust is earned by saying what you don't know.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8A9299"/>
                </a:solidFill>
                <a:latin typeface="Calibri"/>
              </a:rPr>
              <a:t>A clinical system earns trust not by being confident, but by being able to state — precisely, and verifiably — the limits of what it knows.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572000"/>
            <a:ext cx="2743200" cy="25400"/>
          </a:xfrm>
          <a:prstGeom prst="rect">
            <a:avLst/>
          </a:prstGeom>
          <a:solidFill>
            <a:srgbClr val="2E9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299"/>
                </a:solidFill>
                <a:latin typeface="Consolas"/>
              </a:rPr>
              <a:t>github.com/krish2105/Deep-Learning-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299"/>
                </a:solidFill>
                <a:latin typeface="Calibri"/>
              </a:rPr>
              <a:t>Krishna Mathur AS25DXB018 · Atharva Soundankar AS25DXB020 · Yash Petkar AS25DXB021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8A9299"/>
                </a:solidFill>
                <a:latin typeface="Consolas"/>
              </a:rPr>
              <a:t>SENTINEL-CXR · not a medical device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